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042058d1a64501" /><Relationship Type="http://schemas.openxmlformats.org/officeDocument/2006/relationships/extended-properties" Target="/docProps/app.xml" Id="R2176486abf824543" /><Relationship Type="http://schemas.openxmlformats.org/officeDocument/2006/relationships/officeDocument" Target="/ppt/presentation.xml" Id="R5f26afc141414f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b20e775a0f444f"/>
  </p:sldMasterIdLst>
  <p:notesMasterIdLst>
    <p:notesMasterId xmlns:r="http://schemas.openxmlformats.org/officeDocument/2006/relationships" r:id="R0d3949c24bce4b55"/>
  </p:notesMasterIdLst>
  <p:sldIdLst>
    <p:sldId xmlns:r="http://schemas.openxmlformats.org/officeDocument/2006/relationships" id="256" r:id="R645c86a50e494011"/>
    <p:sldId xmlns:r="http://schemas.openxmlformats.org/officeDocument/2006/relationships" id="257" r:id="R6f750918426540bb"/>
    <p:sldId xmlns:r="http://schemas.openxmlformats.org/officeDocument/2006/relationships" id="258" r:id="R2cf9da95d1f54a40"/>
    <p:sldId xmlns:r="http://schemas.openxmlformats.org/officeDocument/2006/relationships" id="259" r:id="R5769d23e8f824a25"/>
    <p:sldId xmlns:r="http://schemas.openxmlformats.org/officeDocument/2006/relationships" id="260" r:id="R168bd888c4f84dfa"/>
    <p:sldId xmlns:r="http://schemas.openxmlformats.org/officeDocument/2006/relationships" id="261" r:id="Ra824b635424e4dfc"/>
    <p:sldId xmlns:r="http://schemas.openxmlformats.org/officeDocument/2006/relationships" id="262" r:id="Rb6dc5f690eaa40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ad6fc33c52424d" /><Relationship Type="http://schemas.openxmlformats.org/officeDocument/2006/relationships/slideMaster" Target="/ppt/slideMasters/slideMaster1.xml" Id="R00b20e775a0f444f" /><Relationship Type="http://schemas.openxmlformats.org/officeDocument/2006/relationships/notesMaster" Target="/ppt/notesMasters/notesMaster1.xml" Id="R0d3949c24bce4b55" /><Relationship Type="http://schemas.openxmlformats.org/officeDocument/2006/relationships/presProps" Target="/ppt/presProps.xml" Id="R857b43bac8f349b0" /><Relationship Type="http://schemas.openxmlformats.org/officeDocument/2006/relationships/tableStyles" Target="/ppt/tableStyles.xml" Id="Rb6f22f5203e94f81" /><Relationship Type="http://schemas.openxmlformats.org/officeDocument/2006/relationships/slide" Target="/ppt/slides/slide1.xml" Id="R645c86a50e494011" /><Relationship Type="http://schemas.openxmlformats.org/officeDocument/2006/relationships/slide" Target="/ppt/slides/slide2.xml" Id="R6f750918426540bb" /><Relationship Type="http://schemas.openxmlformats.org/officeDocument/2006/relationships/slide" Target="/ppt/slides/slide3.xml" Id="R2cf9da95d1f54a40" /><Relationship Type="http://schemas.openxmlformats.org/officeDocument/2006/relationships/slide" Target="/ppt/slides/slide4.xml" Id="R5769d23e8f824a25" /><Relationship Type="http://schemas.openxmlformats.org/officeDocument/2006/relationships/slide" Target="/ppt/slides/slide5.xml" Id="R168bd888c4f84dfa" /><Relationship Type="http://schemas.openxmlformats.org/officeDocument/2006/relationships/slide" Target="/ppt/slides/slide6.xml" Id="Ra824b635424e4dfc" /><Relationship Type="http://schemas.openxmlformats.org/officeDocument/2006/relationships/slide" Target="/ppt/slides/slide7.xml" Id="Rb6dc5f690eaa40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411f0a8b0d4a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331ae475894c6c" /><Relationship Type="http://schemas.openxmlformats.org/officeDocument/2006/relationships/notesMaster" Target="/ppt/notesMasters/notesMaster1.xml" Id="Rf206c71e96a948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cb6c5190b14e72" /><Relationship Type="http://schemas.openxmlformats.org/officeDocument/2006/relationships/notesMaster" Target="/ppt/notesMasters/notesMaster1.xml" Id="R99e4f89b331740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51f2ce6c24904" /><Relationship Type="http://schemas.openxmlformats.org/officeDocument/2006/relationships/notesMaster" Target="/ppt/notesMasters/notesMaster1.xml" Id="R787c1a0d0c634e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ea6a9890b94c8e" /><Relationship Type="http://schemas.openxmlformats.org/officeDocument/2006/relationships/notesMaster" Target="/ppt/notesMasters/notesMaster1.xml" Id="Rd4f247b7ebfd41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8d80fd745419e" /><Relationship Type="http://schemas.openxmlformats.org/officeDocument/2006/relationships/notesMaster" Target="/ppt/notesMasters/notesMaster1.xml" Id="Rf4c2e331f14441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4715ef071147a1" /><Relationship Type="http://schemas.openxmlformats.org/officeDocument/2006/relationships/notesMaster" Target="/ppt/notesMasters/notesMaster1.xml" Id="Raa62fd91bffa42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aa5ed9044b4948" /><Relationship Type="http://schemas.openxmlformats.org/officeDocument/2006/relationships/notesMaster" Target="/ppt/notesMasters/notesMaster1.xml" Id="R3ce736beca11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数据来源：CURRENT_OPTIMIZATION_STATUS.md、VLX_FULL_STACK_VALIDATION.md。口径为 1080P、100 boxes、27 output tokens 的代表性端到端测试。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当前部署链路：C-RADIO TensorRT BF16；Qwen prefill 使用 FlashInfer GDN；Transformer linears 保持 FlashInfer-CUTLASS W4A4；LM head 使用 Humming NVFP4 W4A16 候选。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来源：C_RADIO_TRT_VALIDATION.md。480P C-RADIO -41.77%、VLX E2E -7.38%；720P C-RADIO -3.27%、VLX E2E +0.59%（回归）；1080P C-RADIO -35.90%、VLX E2E -13.63%。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来源：GDN_FLASHINFER_SM121_VALIDATION.md、HUMMING_COMBINED_VALIDATION.md。注意 Humming LM Head 为 NVFP4 W4A16，不是 W4A8。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来源：VLX_FULL_STACK_VALIDATION.md。Baseline 已包含 FlashInfer-CUTLASS W4A4；Optimized 额外加入 C-RADIO TensorRT、FlashInfer GDN 与 Humming W4A16 LM Head。并发 1/2/4/8 的吞吐增益分别为 28.52% / 24.41% / 14.01% / 8.15%。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Humming W4A4 在 256/512 token 长 decode 中比 FI-CUTLASS 快约 8.1–8.8%，但精度 canary 仅 25% exact text、47.7% position-token match，且 TTFT 回归 17–22%，因此不作为默认方案。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来源：CURRENT_OPTIMIZATION_STATUS.md。示例图片的 verbose JSON 需要约 159 tokens，因此固定 27 tokens 仅适用于紧凑输出协议或纯性能压测。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f636875fb42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837d81911a4fe2" /><Relationship Type="http://schemas.openxmlformats.org/officeDocument/2006/relationships/slideLayout" Target="/ppt/slideLayouts/slideLayout1.xml" Id="R3d5298c336cc44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5298c336cc44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dcc27c7194ee2" /><Relationship Type="http://schemas.openxmlformats.org/officeDocument/2006/relationships/notesSlide" Target="/ppt/notesSlides/notesSlide1.xml" Id="Reb549abed1b0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3261e3b7f41fb" /><Relationship Type="http://schemas.openxmlformats.org/officeDocument/2006/relationships/notesSlide" Target="/ppt/notesSlides/notesSlide2.xml" Id="Ree6a00a07b8847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530ca48f14de7" /><Relationship Type="http://schemas.openxmlformats.org/officeDocument/2006/relationships/notesSlide" Target="/ppt/notesSlides/notesSlide3.xml" Id="R99a4676a546145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7f35c17424d11" /><Relationship Type="http://schemas.openxmlformats.org/officeDocument/2006/relationships/notesSlide" Target="/ppt/notesSlides/notesSlide4.xml" Id="R7ce6953a388342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f165e46a04d2e" /><Relationship Type="http://schemas.openxmlformats.org/officeDocument/2006/relationships/notesSlide" Target="/ppt/notesSlides/notesSlide5.xml" Id="R146df79c3a3844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a9eaff5f7427d" /><Relationship Type="http://schemas.openxmlformats.org/officeDocument/2006/relationships/notesSlide" Target="/ppt/notesSlides/notesSlide6.xml" Id="R71e52ade463044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5d501f60b4f9b" /><Relationship Type="http://schemas.openxmlformats.org/officeDocument/2006/relationships/notesSlide" Target="/ppt/notesSlides/notesSlide7.xml" Id="R387a49690cad4a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DBFB3-B1C4-4B35-B1D3-51CFCE75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69438-2542-4E7B-A350-D7E58E5A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VLX 推理优化总结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D2DEC-2180-4AC0-9A0A-4EF8F9D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DDD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5DDD8"/>
                </a:solidFill>
                <a:latin typeface="PingFang SC"/>
                <a:ea typeface="PingFang SC"/>
                <a:cs typeface="PingFang SC"/>
              </a:rPr>
              <a:t>从模块级 kernel 优化，到端到端可部署方案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9B9FC-D687-4F01-AAC3-F5526B58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51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94377-5613-4139-94F3-CDE71374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目标平台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D63FD-70BD-4E4F-8E72-217AA59A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DGX Spark · GB10 · SM121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0D155-1A81-406F-A0FA-06903A63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优化范围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DD95F-EB0E-4140-8586-84012D4C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C-RADIO · Qwen3.5 Prefill · LM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A1E34-BAB6-45E4-BABB-A10689EF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2266950" cy="1847850"/>
          </a:xfrm>
          <a:prstGeom xmlns:a="http://schemas.openxmlformats.org/drawingml/2006/main" prst="roundRect">
            <a:avLst>
              <a:gd name="adj" fmla="val 13402"/>
            </a:avLst>
          </a:prstGeom>
          <a:solidFill xmlns:a="http://schemas.openxmlformats.org/drawingml/2006/main">
            <a:srgbClr val="14271F"/>
          </a:solidFill>
          <a:ln xmlns:a="http://schemas.openxmlformats.org/drawingml/2006/main" w="9525">
            <a:solidFill>
              <a:srgbClr val="3753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A435D-4076-4E18-8A75-BBB92E96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671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22.35%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4434F-B2B9-4744-9A53-983BBD77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624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端到端时延降低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A8E7C-5DBB-480A-8A48-0E73CE8F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7D4C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7D4CC"/>
                </a:solidFill>
                <a:latin typeface="PingFang SC"/>
                <a:ea typeface="PingFang SC"/>
                <a:cs typeface="PingFang SC"/>
              </a:rPr>
              <a:t>+28.78% 吞吐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9C633-DF06-4DB0-8388-FA56D47A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10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2026.09.16</a:t>
            </a:r>
          </a:p>
        </p:txBody>
      </p:sp>
    </p:spTree>
    <p:extLst>
      <p:ext uri="{BB962C8B-B14F-4D97-AF65-F5344CB8AC3E}">
        <p14:creationId xmlns:p14="http://schemas.microsoft.com/office/powerpoint/2010/main" val="1362271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B2B9E9-B5CA-4361-A214-869D5808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DA2C5-9101-465E-85A7-79B6D5F3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优化过程：沿着真实 pipeline 逐段消除瓶颈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20150-3524-4D60-A410-2F15C990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先做模块级 A/B，再验证组合栈与端到端收益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D8628-B95E-404C-AD28-6EDE639B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5137C-5BB5-4DF2-89D6-4041F672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771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781F6-FAA3-4472-B372-82BD6E18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EA144-AE22-4C9A-A12F-A20EDD8D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图像 + 候选框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FB5F0-8E5D-49AD-9CE3-1468796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19250"/>
            <a:ext cx="20002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C464F-7380-43B8-9F44-38E99690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335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F08FC-A1E5-43FA-8717-BA9EFA06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193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主视觉塔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PyTorch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A645C-A638-4934-A8A4-FABE363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52800"/>
            <a:ext cx="20002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AF6D7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3BEC5-8EF6-4DFC-B7AF-E28FC0B4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AUX 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E705E-41B7-4A20-BFD7-8A484714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5285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C-RADIO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TensorRT BF16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2A796-9D6E-47D6-87D0-EA8C0E12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9240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70513-1DB9-41A4-B979-F17D16A1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56683-E30E-4B5C-9C8C-E8270D5E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765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ROI / Object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Token 融合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D2F4E-4A3B-4F08-AC54-FAF484E4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19250"/>
            <a:ext cx="18097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AF6D7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31CC1-0B14-47B3-8633-E77BB712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335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PREFILL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F89D7-72FD-4B12-A300-AD21C70E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19300"/>
            <a:ext cx="1504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FlashInfer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GDN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A79B1-5F72-47D7-98D4-58178A2B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52800"/>
            <a:ext cx="18097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A0FFE-4335-4908-876D-CA2686C7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671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DECODE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32BDB9-3480-4054-B146-24C4443C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1504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FI-CUTLASS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W4A4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6AD4C-32B0-4532-B87B-EBA5BC6D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17526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AF6D7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0443F-1D7A-4452-9635-7C25DCA3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908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9DFFC-F3E0-4825-9568-4A0151E4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76550"/>
            <a:ext cx="1447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Humming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W4A16 LM Head</a:t>
            </a:r>
          </a:p>
        </p:txBody>
      </p:sp>
      <p:cxnSp>
        <p:nvCxnSpPr>
          <p:cNvPr id="6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362200" y="2352675"/>
            <a:ext cx="361950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82"/>
            </a:solidFill>
            <a:prstDash val="solid"/>
            <a:head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62200" y="2486025"/>
            <a:ext cx="361950" cy="1600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82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24400" y="2352675"/>
            <a:ext cx="4953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82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4724400" y="3209925"/>
            <a:ext cx="49530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82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143750" y="2352675"/>
            <a:ext cx="4953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82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7410450" y="2352675"/>
            <a:ext cx="2266950" cy="1733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69082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448800" y="3209925"/>
            <a:ext cx="43815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82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CA7320-F1C0-4B2E-949D-E52CD37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① TensorRT 加速 C-RADIO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86063-BDA7-460B-A4EA-656E2B79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19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② FlashInfer 替换 GDN prefill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4585B5-F3D3-4FF3-BCDC-95E8CDF7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③ Humming 量化 LM Head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155595-3232-49A1-827A-781728AB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绿色模块 = 本轮确认优化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B5106B-BEF2-4BF5-AAB4-B91FAE2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5FAA5-1D02-4B3C-AEA7-9AED3329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1376809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7F60FD-B874-4D9F-9139-988A9EC6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3F6D1-C75E-497F-B406-86A7B43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C-RADIO：TensorRT BF16 + 有界动态 shape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8D8AA-B8D0-4237-A4E6-501EF04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动态 profile 覆盖 480P / 720P / 1080P；非白名单尺寸自动回退 PyTorch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94043-DFC5-4454-8D6E-F2EFC30F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7A0A0-8C7E-4094-9332-35D2D4B0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858000" cy="409575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B7114-9FA1-48DA-9CAC-067CA0C8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实现方法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A4AB9-B4AB-4486-B6B0-E7C05D9B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动态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0AA5B-2AAC-40F3-A337-83AFEE2D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193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Token length：1600 / 3610 / 8170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A5319-A4DD-47C6-8515-4F99F97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精度策略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307C0-1415-432E-AEC2-D293A55D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BF16 engine；保留多层 tap 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02A2C-065C-49E9-B772-AC573867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路由策略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E7CBF-EA32-4C09-8820-13965A93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671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480P、1080P 走 TRT；720P 与其他尺寸走 PyTorch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80010-7F57-4E31-B3E6-85A9C691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验证方法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159BF-EE8B-4358-ADA4-6F5AA95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910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单模块测速 + 全 VLX E2E + per-tap cosine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4E1D4-7379-4552-ACB5-DF679039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886200" cy="4095750"/>
          </a:xfrm>
          <a:prstGeom xmlns:a="http://schemas.openxmlformats.org/drawingml/2006/main" prst="roundRect">
            <a:avLst>
              <a:gd name="adj" fmla="val 5392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BA96C-8D34-445E-9803-97B12C27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62150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-35.9%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F109B-C97E-4490-A16A-934EDF6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057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89B36-B077-400B-B738-04A6A52C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1080P C-RADIO 时延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FE9F9-CC50-4AA2-9DA2-C633A4EA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753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25162-354F-412D-A3AA-F01063C0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-13.6%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85D7E-E03E-48FE-B125-B24EABB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524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75DB8-4E59-4B45-8A8F-592AB1B0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1080P 全 VLX E2E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AB31B-4BC5-4C88-B0D1-DB69E7AE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43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5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7B5AC"/>
                </a:solidFill>
                <a:latin typeface="PingFang SC"/>
                <a:ea typeface="PingFang SC"/>
                <a:cs typeface="PingFang SC"/>
              </a:rPr>
              <a:t>数值一致性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4CADF-9A9A-45AB-B284-FBDB5426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482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最低 per-tap cosine  0.999891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AE052-31FE-4050-ACB6-7E57E687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结论：生产默认启用 480P / 1080P；720P 延迟无收益，保留 fallback。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FB879-EF4D-47CC-BF1D-4CCF1A72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1C308-557D-47F2-B40E-713AC7F5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411447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74C2C-A8D8-449E-9786-C01FF5EB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D75C1-83BC-43AE-BE56-D43BBFB4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Qwen3.5：Prefill 与 Decode 分开优化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A6D05-D296-4B4C-BDCC-EFB62A8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GDN 负责首 token 路径；LM Head 直接影响每步 decode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9B750-BFA1-4150-BCB6-2E526A0B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5EDE5-D7EC-486C-9693-3C33A608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295900" cy="4171950"/>
          </a:xfrm>
          <a:prstGeom xmlns:a="http://schemas.openxmlformats.org/drawingml/2006/main" prst="roundRect">
            <a:avLst>
              <a:gd name="adj" fmla="val 5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FF0D4-FA67-4C4C-AFB9-E78343E7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PREFILL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D028E-B646-450D-96B0-4DE874D4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FlashInfer GDN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D2BBE-A07A-4B5A-8E07-7CD84EE3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替换 Triton GDN，并预热 2200-token 与 packed 并发 shape。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1F4AA-F580-48CA-9BC0-85799D85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1.64×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AEEFE-43F9-4E0A-B755-DD844B19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964F7-124A-4920-8BF3-75A35B7A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GDN kernel 加速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5F659-1703-4B80-A8D2-21D92420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-8.0%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312D7-1BF1-469F-AD4D-067ABCFF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B6B13-FC63-446D-8944-9DD79D4E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338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Sequential TTFT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9A454-6C8C-4CAD-8927-92E89173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0.930 ms  →  0.565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FB31C-D73D-483E-8015-DE4D1E54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输出 cosine 0.9999856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E904E-2EF9-4F59-BF56-751960E2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295900" cy="4171950"/>
          </a:xfrm>
          <a:prstGeom xmlns:a="http://schemas.openxmlformats.org/drawingml/2006/main" prst="roundRect">
            <a:avLst>
              <a:gd name="adj" fmla="val 5023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AEC62-F662-45FE-ABAA-F684938B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DECODE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C39EB-71F2-4F6F-BB2D-901C714D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Humming NVFP4 W4A16 LM Head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4418F-A990-4F7E-9415-3D56C92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B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FCBC4"/>
                </a:solidFill>
                <a:latin typeface="PingFang SC"/>
                <a:ea typeface="PingFang SC"/>
                <a:cs typeface="PingFang SC"/>
              </a:rPr>
              <a:t>Transformer linears 继续使用 FlashInfer-CUTLASS W4A4，仅替换 LM Head。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2208B-711F-49D9-A049-8B49BDC2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-38.5%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E5FFE-CF1C-4F07-93E9-0C9F3A4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E6F4E-8972-4C7B-B233-43E48BE8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TPOT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545F6-4E73-422D-9DA4-3097070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-29.3%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CEAAF-1966-43AA-B0E1-C7CFD5D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95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D88A5-EEFE-48AC-AA19-9E582C88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291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Qwen E2E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2FD1E-8589-465C-9920-63A7CFEF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9110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精度 canary：首 token 100% · top-5 91.7%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945D0-AFDB-4337-899B-4D5DEF2D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30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C7B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2C7BF"/>
                </a:solidFill>
                <a:latin typeface="PingFang SC"/>
                <a:ea typeface="PingFang SC"/>
                <a:cs typeface="PingFang SC"/>
              </a:rPr>
              <a:t>上线前仍需私有任务精度门禁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6DEA3-4AC4-42A2-8D6B-B56F2841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E42F90-A325-4036-B0E7-6788EF8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617496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297B54-8515-440F-96F6-7F83676A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1BAFC-AF73-4F03-A784-F0E292E6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联合优化后的端到端收益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5BF24-BA36-4685-99FF-AFC02CDC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3B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6C3BC"/>
                </a:solidFill>
                <a:latin typeface="PingFang SC"/>
                <a:ea typeface="PingFang SC"/>
                <a:cs typeface="PingFang SC"/>
              </a:rPr>
              <a:t>1080P · 100 boxes · 实际 2271 prompt tokens · 27 output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6D402-3946-4C08-BAD9-83EF2F7D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751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60006-5C57-4184-A8F0-E081C18D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E2E 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77DBB-B1CC-460A-8715-6E97B218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71650"/>
            <a:ext cx="5715000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4555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6E9DB-1F2D-4902-B5AF-E2F127D3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4437735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CA4B2-53AE-4415-A036-17DCF5A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rPr>
              <a:t>1203.57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A7FA5-C91B-4352-98BA-9CE7068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669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934.58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882CA-483C-4F61-9267-B927A99F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954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-22.35%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BB841-506B-4F2F-BD1E-465EF902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TTFT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1D904-0E84-411E-A8A4-AB6BB996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38450"/>
            <a:ext cx="5715000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4555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8323E-BC8E-47CA-9E0E-6E38B1EE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2300"/>
            <a:ext cx="4717602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157A0-FC31-4C76-9CA1-25549DFE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rPr>
              <a:t>934.72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AA7C1-3ED8-4F89-91C1-F708EB3D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33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771.59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033F9-FFF2-4939-90A9-55B5B206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622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-17.45%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99E0E-396B-4EAC-99E7-2BEF6917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TPOT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1FD96-553C-48F2-B4CA-7CD524D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5715000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4555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87AB4-B03C-457A-A023-3C88BA7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3464591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5DC6A-1197-46AE-B809-B3C2754B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rPr>
              <a:t>10.341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915BF-DCCF-437A-A152-D4B032D2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005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6.269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89177-1E5B-47BA-AAC0-86865DCF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29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-39.38%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AD317-F04B-4017-8CAD-FC4DE01A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7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AB7B0"/>
                </a:solidFill>
                <a:latin typeface="PingFang SC"/>
                <a:ea typeface="PingFang SC"/>
                <a:cs typeface="PingFang SC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6CB7A-7EFD-4FB6-AEF1-EC32AB31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7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Optimized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7FCE2-F514-4885-BB10-C8D3F11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156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14271F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F91FA-6FF9-4948-BE76-B18A08F6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CE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CEC7"/>
                </a:solidFill>
                <a:latin typeface="PingFang SC"/>
                <a:ea typeface="PingFang SC"/>
                <a:cs typeface="PingFang SC"/>
              </a:rPr>
              <a:t>Request throughput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06FC0E-D0BE-4864-BD62-4278911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48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0.831  →  1.070 req/s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11528F-49C2-42D6-800F-82A25595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48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+28.78%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137EC4-D8B7-49EA-A54A-252AAC7F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764384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E6729-BD1E-4558-A6FD-874A92B6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FCB84-F502-48B8-9F4F-CA177E0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当前推荐部署方案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57DD4-000D-476B-8DF2-8F6F21AC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以端到端收益、数值一致性和可回退能力为准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D6685-3955-4AB2-BA22-8EF80C23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0AC6F-CB0F-4F29-8FB1-25CE9C05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启用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FCF42-E485-4112-BA85-A53B5184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17A53-6FE5-43BE-ADD5-1DF2E9E1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192D7-E338-4D25-B609-0FF2DDF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C-RADIO TRT BF16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480P / 1080P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B6E2C-FB07-4C8B-9233-8A9AFC79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0B2F1-F46D-4DE5-87C1-3C254B94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FlashInfer GDN prefill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E67C5-83F3-4F91-B4D1-185BEBC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A7864-6624-4B5A-995F-414EEE2A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FI-CUTLASS W4A4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Transformer linears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EE8CE-4F22-480C-B64B-E417D19B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38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带门禁启用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02862-DB32-4DF8-B4E7-44B51A17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B4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D1A69-FA11-472E-A003-3BD39F15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47D06-2699-4E3F-8AB1-B2883F0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Humming NVFP4 W4A16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LM 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644C2-F364-4B67-A4F5-75098950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A90C9-4392-4DE1-AF32-37D7D82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必须通过私有任务级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accuracy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C0E24-D1F3-461A-8D04-8D2450F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C13F2-602A-4650-AF5D-3512D51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保留 BF16 LM Head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一键回退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5D1B8-8305-4244-BF1C-00D74C08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38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暂不启用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15AC4-DCAE-418B-BFCA-EF1BABC2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856B8-5A84-4ADF-96F8-4060945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C01D4-D0F6-4E1C-86AA-BFBC21DD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Humming W4A4 全量替换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精度 canary 未通过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A2E67-45C4-4E04-A731-F3E767B7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4B7DCD-801D-41B0-A754-8D3F1553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TensorRT 720P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E2E 回归 0.59%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025AF-5FFE-4CF7-A1B7-DAB0881F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00DF2-EE1E-400F-A939-1023F6BC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FlashInfer-TRTLLM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SM121 初始化失败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6653D-F604-4FFB-8E6E-64BDB57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744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ECEBE-B350-4373-9AEF-1B6C79CF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26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关键判断：Humming 用在 LM Head，W4A4 主干仍保留 FlashInfer-CUTLASS。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184456-9C8D-4CD9-AC5C-8F329B6F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99129-8363-44C0-B2D9-EFE7F371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290491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F68FD-C1A4-4D1F-B764-41903C4B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95DEB-3BEB-49D9-92AE-977CDC19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下一步：从 kernel 优化走向生产闭环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5D037-BEEB-450E-AC37-002B9475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先补准确率证据，再继续吃掉视觉路径的剩余时延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F4675-89F0-46E2-BA68-D3CDFF3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F5AC8-BAF2-4E14-BF4C-0D20DAC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F0FF4-6BF5-46E9-9199-8ACCBF68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430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私有任务精度门禁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D7C6E-A7D4-41CC-9C96-016229D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430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对比 BF16 / 当前栈 / W4A16；关注候选框索引、schema 与答案质量。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66B0D-BC8F-4C8D-A8E5-E1E97BD5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2845A-7249-4A69-A397-BED4D2A6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P1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19016-0E7C-4592-9125-C602EC2F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98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压缩输出协议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BA11C-74CD-491A-B709-2E5FCA08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将 verbose JSON 改为候选框 index，避免 27-token 截断；按真实输出长度分布复测。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A438F-10C5-43FE-8F57-24B15C1C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B92A1-AA06-4191-800B-CF1C61CA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95FA7-0093-44CE-92CD-39410F1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766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并行两个视觉塔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25D9D-070E-4C2D-A933-E2F8CC5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主视觉塔约 286 ms，优化后 C-RADIO 约 285 ms；尝试独立 CUDA streams。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DE7C0-B6D0-4CC0-A7B3-FE2882A9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8E96E-2D63-4484-A1B9-3D325127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P3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F541B-9511-4207-9A4F-A4B0A916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优化主视觉塔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F2A41-755B-4DCD-ADAA-157760A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434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复用 480P / 720P / 1080P 动态 TensorRT + 精确 fallback 策略。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6C49F-7053-404B-AFD5-289A88A2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744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F1D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A7F32-E8F7-458C-BF3B-BC9661C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最大剩余机会：将主视觉塔与 C-RADIO 从串行改为并行，并继续优化主视觉塔。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3DB08-05A8-49C9-B59A-B50D2683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5D47B-6A77-4EAA-A886-22B972EB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2009507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2026-09-16T07:11:09.0670000Z</dcterms:created>
  <dcterms:modified xsi:type="dcterms:W3CDTF">2026-09-16T07:11:09.0670000Z</dcterms:modified>
</coreProperties>
</file>