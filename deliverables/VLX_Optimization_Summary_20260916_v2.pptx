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fecd6b3e224819" /><Relationship Type="http://schemas.openxmlformats.org/officeDocument/2006/relationships/extended-properties" Target="/docProps/app.xml" Id="Rdcef3d0251aa477c" /><Relationship Type="http://schemas.openxmlformats.org/officeDocument/2006/relationships/officeDocument" Target="/ppt/presentation.xml" Id="Raf36f9ee88e946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4a4c41c764441b"/>
  </p:sldMasterIdLst>
  <p:notesMasterIdLst>
    <p:notesMasterId xmlns:r="http://schemas.openxmlformats.org/officeDocument/2006/relationships" r:id="R7e0488f38998454c"/>
  </p:notesMasterIdLst>
  <p:sldIdLst>
    <p:sldId xmlns:r="http://schemas.openxmlformats.org/officeDocument/2006/relationships" id="256" r:id="Rdcf45743122c4a77"/>
    <p:sldId xmlns:r="http://schemas.openxmlformats.org/officeDocument/2006/relationships" id="257" r:id="Raf58296144864492"/>
    <p:sldId xmlns:r="http://schemas.openxmlformats.org/officeDocument/2006/relationships" id="258" r:id="Rcc223bf0b43f4bb6"/>
    <p:sldId xmlns:r="http://schemas.openxmlformats.org/officeDocument/2006/relationships" id="259" r:id="R163156f44e3c4294"/>
    <p:sldId xmlns:r="http://schemas.openxmlformats.org/officeDocument/2006/relationships" id="260" r:id="Rf72d8971f0194357"/>
    <p:sldId xmlns:r="http://schemas.openxmlformats.org/officeDocument/2006/relationships" id="261" r:id="Rddbee5758ceb4660"/>
    <p:sldId xmlns:r="http://schemas.openxmlformats.org/officeDocument/2006/relationships" id="262" r:id="R2de209a69fa446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8a2c75af354ce1" /><Relationship Type="http://schemas.openxmlformats.org/officeDocument/2006/relationships/slideMaster" Target="/ppt/slideMasters/slideMaster1.xml" Id="R994a4c41c764441b" /><Relationship Type="http://schemas.openxmlformats.org/officeDocument/2006/relationships/notesMaster" Target="/ppt/notesMasters/notesMaster1.xml" Id="R7e0488f38998454c" /><Relationship Type="http://schemas.openxmlformats.org/officeDocument/2006/relationships/presProps" Target="/ppt/presProps.xml" Id="R42e6b1dc072048c7" /><Relationship Type="http://schemas.openxmlformats.org/officeDocument/2006/relationships/tableStyles" Target="/ppt/tableStyles.xml" Id="R8ecfdcda38c0431b" /><Relationship Type="http://schemas.openxmlformats.org/officeDocument/2006/relationships/slide" Target="/ppt/slides/slide1.xml" Id="Rdcf45743122c4a77" /><Relationship Type="http://schemas.openxmlformats.org/officeDocument/2006/relationships/slide" Target="/ppt/slides/slide2.xml" Id="Raf58296144864492" /><Relationship Type="http://schemas.openxmlformats.org/officeDocument/2006/relationships/slide" Target="/ppt/slides/slide3.xml" Id="Rcc223bf0b43f4bb6" /><Relationship Type="http://schemas.openxmlformats.org/officeDocument/2006/relationships/slide" Target="/ppt/slides/slide4.xml" Id="R163156f44e3c4294" /><Relationship Type="http://schemas.openxmlformats.org/officeDocument/2006/relationships/slide" Target="/ppt/slides/slide5.xml" Id="Rf72d8971f0194357" /><Relationship Type="http://schemas.openxmlformats.org/officeDocument/2006/relationships/slide" Target="/ppt/slides/slide6.xml" Id="Rddbee5758ceb4660" /><Relationship Type="http://schemas.openxmlformats.org/officeDocument/2006/relationships/slide" Target="/ppt/slides/slide7.xml" Id="R2de209a69fa4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650114da044b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a7ba1ed1654c91" /><Relationship Type="http://schemas.openxmlformats.org/officeDocument/2006/relationships/notesMaster" Target="/ppt/notesMasters/notesMaster1.xml" Id="Ref0c1d680a0040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c0c57071e4435" /><Relationship Type="http://schemas.openxmlformats.org/officeDocument/2006/relationships/notesMaster" Target="/ppt/notesMasters/notesMaster1.xml" Id="R54e5f16504484e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a43e97cc074e3b" /><Relationship Type="http://schemas.openxmlformats.org/officeDocument/2006/relationships/notesMaster" Target="/ppt/notesMasters/notesMaster1.xml" Id="R66faa16c12b64f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4860258b08437d" /><Relationship Type="http://schemas.openxmlformats.org/officeDocument/2006/relationships/notesMaster" Target="/ppt/notesMasters/notesMaster1.xml" Id="R7001cc6e04c648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d3e81576fe4d29" /><Relationship Type="http://schemas.openxmlformats.org/officeDocument/2006/relationships/notesMaster" Target="/ppt/notesMasters/notesMaster1.xml" Id="R93fae88a0c0a44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06993140054804" /><Relationship Type="http://schemas.openxmlformats.org/officeDocument/2006/relationships/notesMaster" Target="/ppt/notesMasters/notesMaster1.xml" Id="R7116afaf258347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0a8823cf224d88" /><Relationship Type="http://schemas.openxmlformats.org/officeDocument/2006/relationships/notesMaster" Target="/ppt/notesMasters/notesMaster1.xml" Id="R0cf88db17f6044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数据来源：CURRENT_OPTIMIZATION_STATUS.md、VLX_FULL_STACK_VALIDATION.md。口径为 1080P、100 boxes、27 output tokens 的代表性端到端测试。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当前部署链路：C-RADIO TensorRT BF16；Qwen prefill 使用 FlashInfer GDN；Transformer linears 保持 FlashInfer-CUTLASS W4A4；LM head 使用 Humming NVFP4 W4A16 候选。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来源：C_RADIO_TRT_VALIDATION.md。480P C-RADIO -41.77%、VLX E2E -7.38%；720P C-RADIO -3.27%、VLX E2E +0.59%（回归）；1080P C-RADIO -35.90%、VLX E2E -13.63%。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来源：GDN_FLASHINFER_SM121_VALIDATION.md、HUMMING_COMBINED_VALIDATION.md。注意 Humming LM Head 为 NVFP4 W4A16，不是 W4A8。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来源：VLX_FULL_STACK_VALIDATION.md。Baseline 已包含 FlashInfer-CUTLASS W4A4；Optimized 额外加入 C-RADIO TensorRT、FlashInfer GDN 与 Humming W4A16 LM Head。并发 1/2/4/8 的吞吐增益分别为 28.52% / 24.41% / 14.01% / 8.15%。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Humming W4A4 在 256/512 token 长 decode 中比 FI-CUTLASS 快约 8.1–8.8%，但精度 canary 仅 25% exact text、47.7% position-token match，且 TTFT 回归 17–22%，因此不作为默认方案。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来源：CURRENT_OPTIMIZATION_STATUS.md。示例图片的 verbose JSON 需要约 159 tokens，因此固定 27 tokens 仅适用于紧凑输出协议或纯性能压测。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62d9ba3fa46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49f82642f64cb5" /><Relationship Type="http://schemas.openxmlformats.org/officeDocument/2006/relationships/slideLayout" Target="/ppt/slideLayouts/slideLayout1.xml" Id="R2e58faa0d7e346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58faa0d7e346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56cc1e9784fd7" /><Relationship Type="http://schemas.openxmlformats.org/officeDocument/2006/relationships/notesSlide" Target="/ppt/notesSlides/notesSlide1.xml" Id="Rcce45c7290db4c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4f5c6929d4d9d" /><Relationship Type="http://schemas.openxmlformats.org/officeDocument/2006/relationships/notesSlide" Target="/ppt/notesSlides/notesSlide2.xml" Id="R5e900e0c469f46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2a06f61954558" /><Relationship Type="http://schemas.openxmlformats.org/officeDocument/2006/relationships/notesSlide" Target="/ppt/notesSlides/notesSlide3.xml" Id="Ra6fc3b09f08041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7e5bccaad4a0b" /><Relationship Type="http://schemas.openxmlformats.org/officeDocument/2006/relationships/notesSlide" Target="/ppt/notesSlides/notesSlide4.xml" Id="R5c616e70fe6548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aba9de06e49d2" /><Relationship Type="http://schemas.openxmlformats.org/officeDocument/2006/relationships/notesSlide" Target="/ppt/notesSlides/notesSlide5.xml" Id="Rb173f94b73be42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0d542e0be497c" /><Relationship Type="http://schemas.openxmlformats.org/officeDocument/2006/relationships/notesSlide" Target="/ppt/notesSlides/notesSlide6.xml" Id="R80b550ef9286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f903ded814cbe" /><Relationship Type="http://schemas.openxmlformats.org/officeDocument/2006/relationships/notesSlide" Target="/ppt/notesSlides/notesSlide7.xml" Id="Ra89b5cceef0a4d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3ECD4-4387-4632-9B1F-EAC51A35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82725-C764-44F9-A865-C48C3B53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VLX 推理优化总结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6ADCD-8EB2-4205-86F0-B6A6F954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5DDD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5DDD8"/>
                </a:solidFill>
                <a:latin typeface="PingFang SC"/>
                <a:ea typeface="PingFang SC"/>
                <a:cs typeface="PingFang SC"/>
              </a:rPr>
              <a:t>从模块级 kernel 优化，到端到端可部署方案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6E32B-1613-4CA2-A261-0EB014C2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51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B0A72-4725-4B58-A144-D4351EE0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目标平台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A689F-3F21-48D3-97BC-453AC106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DGX Spark · GB10 · SM121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ECF8E-A40F-41C5-B336-7FC71AF1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优化范围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69F0C-9B6A-4A1C-AD79-D65900CD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577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C-RADIO · Qwen3.5 Prefill · LM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AB317-18BF-42BD-B4D5-15578F54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1850"/>
            <a:ext cx="2266950" cy="1847850"/>
          </a:xfrm>
          <a:prstGeom xmlns:a="http://schemas.openxmlformats.org/drawingml/2006/main" prst="roundRect">
            <a:avLst>
              <a:gd name="adj" fmla="val 13402"/>
            </a:avLst>
          </a:prstGeom>
          <a:solidFill xmlns:a="http://schemas.openxmlformats.org/drawingml/2006/main">
            <a:srgbClr val="14271F"/>
          </a:solidFill>
          <a:ln xmlns:a="http://schemas.openxmlformats.org/drawingml/2006/main" w="9525">
            <a:solidFill>
              <a:srgbClr val="3753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0C2B0-F7C4-4358-9655-A33C9510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67125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22.35%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F9317-BC26-45F2-AAB6-9AB4F3C1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624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端到端时延降低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95744-B2A6-47B3-A60F-8F6F9521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7D4C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7D4CC"/>
                </a:solidFill>
                <a:latin typeface="PingFang SC"/>
                <a:ea typeface="PingFang SC"/>
                <a:cs typeface="PingFang SC"/>
              </a:rPr>
              <a:t>+28.78% 吞吐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C8660-E3AE-4079-9024-E85456CB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10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2026.09.16</a:t>
            </a:r>
          </a:p>
        </p:txBody>
      </p:sp>
    </p:spTree>
    <p:extLst>
      <p:ext uri="{BB962C8B-B14F-4D97-AF65-F5344CB8AC3E}">
        <p14:creationId xmlns:p14="http://schemas.microsoft.com/office/powerpoint/2010/main" val="358702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AA0919-7208-4764-9EF0-7205FDF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262A1-5896-444D-9CFB-3B1318C7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优化过程：沿着真实 pipeline 逐段消除瓶颈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B927C-76E9-44BF-8CD6-9DF63C1C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先做模块级 A/B，再验证组合栈与端到端收益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C10E6-8009-4224-92A3-DE02E68F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8A1F7-D548-419F-AC77-F0E16F52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428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3BB7E-F791-4345-9407-64FAB5BD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AAE07-7DE7-4507-9BF1-4BC79A9C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123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图像 +</a:t>
            </a:r>
          </a:p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候选框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BE52D-51B2-420A-AF61-48F07386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38475"/>
            <a:ext cx="3048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90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FE891-F08A-4578-A097-4B98F562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381250" cy="2781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350C7-7028-44DE-AA1F-90271527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81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PARALLEL 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9979-7221-428C-866A-97774DFD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2038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E18BA-3FD4-4E09-A171-A4F9B817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7175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主视觉塔 · PyTorch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E1AAD-FF06-4C2B-8C3F-D98B44B3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9950"/>
            <a:ext cx="2038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6D7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3E7A3-2C93-4E81-9601-5C30D6FA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195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C-RADIO · TRT BF16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64B29-BD21-493F-A5D6-33F2D8EC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38475"/>
            <a:ext cx="3048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90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7EE8B-8162-49BD-81BE-25403AD6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71750"/>
            <a:ext cx="1524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17CB6-C8D1-43F3-A994-A155ED04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86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0ECFB-5ACB-4B62-9D09-E9CD9C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71800"/>
            <a:ext cx="121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ROI / Object</a:t>
            </a:r>
          </a:p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Token 融合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A93A5-ACA0-4171-8BE9-2225C88A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38475"/>
            <a:ext cx="3048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90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A6A59-C439-49EC-988A-DBEABEAE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09750"/>
            <a:ext cx="2381250" cy="2781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2202D-8E6D-4D47-8DDB-49197657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81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QWEN3.5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48D2F-A560-4BC0-BE82-D339B610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2038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6D7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152CA-FDAC-4DEB-B831-0E584B60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Prefill · FlashInfer GDN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46D16-A9C1-4038-AA3D-E6644065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09950"/>
            <a:ext cx="2038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5CF79-6E9A-410B-9406-1456483B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Decode · FI-CUTLASS W4A4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F8A69-85FE-4E16-93D7-F0D65960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38475"/>
            <a:ext cx="3048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908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8C338F-C46D-4F49-A6CE-A1F71E63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71750"/>
            <a:ext cx="12763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6D7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D3DA6-E964-49BE-AE76-A3FE00A4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6860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27757F-5A2C-4F3B-A6FB-ADFAC62C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71800"/>
            <a:ext cx="971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Humming</a:t>
            </a:r>
          </a:p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W4A16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4203C8-62CE-4A0B-91D4-65BD6593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① TensorRT 加速 C-RADIO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C9E489-D0B5-4B23-A6F5-2EF1F83D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48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② FlashInfer 替换 GDN prefill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265DD-E38B-44BD-A72A-AD6ECC72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48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③ Humming 量化 LM Head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6EB516-1E61-41F5-86A8-AD2D2D5F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绿色模块 = 本轮确认优化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C2847-B22B-41F6-9601-8D9B8A59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VLX inference optimization · DGX Spark / GB10 / SM121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8D5777-CF65-4CDD-9899-3C830DF3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04978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CDDFDE-5737-4C21-B8B4-BC9BDB9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35223-8828-48C8-9C72-5ECEDB76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C-RADIO：TensorRT BF16 + 有界动态 shape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9D1D0-826D-458B-8D2A-5C53C4C0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动态 profile 覆盖 480P / 720P / 1080P；非白名单尺寸自动回退 PyTorch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62BFB-665E-4C95-B7C2-A6331A81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61171-73D2-4C43-9F5D-D4C5DBEF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858000" cy="4095750"/>
          </a:xfrm>
          <a:prstGeom xmlns:a="http://schemas.openxmlformats.org/drawingml/2006/main" prst="roundRect">
            <a:avLst>
              <a:gd name="adj" fmla="val 5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2C962-AC36-43AC-B4E0-6B95D158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实现方法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6ED40-AC05-42E5-BB3B-AF69E5DD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动态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3F34A-501D-481E-88BE-58F54696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193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Token length：1600 / 3610 / 8170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1B552-138B-493D-9644-22686A3D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精度策略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B586C-ACB6-48BA-ABD2-A86063C4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BF16 engine；保留多层 tap 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1F8DF-AA73-4C37-BF1F-5D9C8A64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路由策略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1F8FE-BA1C-4E77-A96C-0B3B95F6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671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480P、1080P 走 TRT；720P 与其他尺寸走 PyTorch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7E1FA-7130-4B6A-A87F-365B1AAB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验证方法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96551-0E7C-45BD-B6F2-BBB27528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9105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单模块测速 + 全 VLX E2E + per-tap cosine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5E710-4190-45A8-A8CC-2F3DEE83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886200" cy="4095750"/>
          </a:xfrm>
          <a:prstGeom xmlns:a="http://schemas.openxmlformats.org/drawingml/2006/main" prst="roundRect">
            <a:avLst>
              <a:gd name="adj" fmla="val 5392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752F3-F497-44C8-B0C8-FB14EB75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62150"/>
            <a:ext cx="308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-35.9%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954A7-E8D1-4F6B-829D-C47ABE6C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057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6DDEC-B21F-4095-BAD4-B80B024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1080P C-RADIO 时延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FF689-0C0B-46B8-B751-09FFB3B9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753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2FE08-A231-431F-B1E9-59284F1A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308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-13.6%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36067-0558-4C0F-8A9A-8D8B8A23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524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C2D63-211C-4BF8-9968-B9C08271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576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1080P 全 VLX E2E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28099-035D-4E08-B235-774393D9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43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5A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7B5AC"/>
                </a:solidFill>
                <a:latin typeface="PingFang SC"/>
                <a:ea typeface="PingFang SC"/>
                <a:cs typeface="PingFang SC"/>
              </a:rPr>
              <a:t>数值一致性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E1F24-28FF-4B78-9E17-74B38F7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482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最低 per-tap cosine  0.999891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4BB2A-0470-43D8-A69E-6F774DA2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结论：生产默认启用 480P / 1080P；720P 延迟无收益，保留 fallback。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B956A8-888A-4B71-A33D-799139CD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VLX inference optimization · DGX Spark / GB10 / SM121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32AA8-46DE-4356-8967-412994B7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538485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4846ED-D24A-4101-B49A-BB538EF1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66FB7-DD0A-4FE5-91B1-95385FB2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Qwen3.5：Prefill 与 Decode 分开优化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9E555-595C-4E29-9726-50C1C8B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GDN 负责首 token 路径；LM Head 直接影响每步 decode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B94FE-8CD6-4B72-A6EB-BE963BFF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2EDB7-EBB0-4921-AFFD-35088F60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295900" cy="4171950"/>
          </a:xfrm>
          <a:prstGeom xmlns:a="http://schemas.openxmlformats.org/drawingml/2006/main" prst="roundRect">
            <a:avLst>
              <a:gd name="adj" fmla="val 5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734F1-F7AA-43F4-B660-C6962822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PREFILL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6ED63-ACE3-4CC0-81FA-78919112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FlashInfer GDN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C2238-C538-4CCB-8D62-31802EA8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替换 Triton GDN，并预热 2200-token 与 packed 并发 shape。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60C43-393E-4E72-ABD3-59F908E5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1.64×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CEDBF-7374-45C0-9809-B592A712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00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A6141-86C5-4563-A2AF-9B0CA31E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GDN kernel 加速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E4B5F-0A78-46E9-844B-764CB1A1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052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-8.0%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DCF94-CE73-4A1C-BB06-41AF506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5CB28-606C-4F74-BE50-BFBE09DB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338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Sequential TTFT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0EA6A-A1FA-42F3-9D87-80C06537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0.930 ms  →  0.565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AEA72-AD6F-4F29-AC73-564095CB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输出 cosine 0.9999856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4DB18-1CB2-4155-A0B2-F18DC541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295900" cy="4171950"/>
          </a:xfrm>
          <a:prstGeom xmlns:a="http://schemas.openxmlformats.org/drawingml/2006/main" prst="roundRect">
            <a:avLst>
              <a:gd name="adj" fmla="val 5023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C6C62-D6C3-4DD1-B95F-39238FF3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DECODE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DFD19-F3F8-42FF-B4A5-0B984B09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Humming NVFP4 W4A16 LM Head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89A35-4ADA-4D92-8210-63E78D08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CBC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FCBC4"/>
                </a:solidFill>
                <a:latin typeface="PingFang SC"/>
                <a:ea typeface="PingFang SC"/>
                <a:cs typeface="PingFang SC"/>
              </a:rPr>
              <a:t>Transformer linears 继续使用 FlashInfer-CUTLASS W4A4，仅替换 LM Head。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7911A-CE0E-4EBB-92FE-9D2947F7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-38.5%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E7A5D-3616-4975-9B4B-5E4C87F8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95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12D7E-484D-4EEF-AF67-901AE1AF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TPOT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17FB5-DCC9-4A42-8A2D-D3686463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-29.3%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9D1CC-E79A-456D-9823-85909E6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95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C4A904-C847-4C6B-BA06-C5E8741A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2910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Qwen E2E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F6DB2-557F-4A3D-8571-9DE6DC75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9110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精度 canary：首 token 100% · top-5 91.7%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9C373F-78F6-4E22-A835-5C158EAF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30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C7B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2C7BF"/>
                </a:solidFill>
                <a:latin typeface="PingFang SC"/>
                <a:ea typeface="PingFang SC"/>
                <a:cs typeface="PingFang SC"/>
              </a:rPr>
              <a:t>上线前仍需私有任务精度门禁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9553F-515C-4961-B51C-B9F6D9D5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VLX inference optimization · DGX Spark / GB10 / SM121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86DBFC-C7D7-489D-AB45-2B7940C9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836517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D11CEB-502D-49F2-9311-42618B0A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5773D-502A-426F-B1CE-1DBA19B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联合优化后的端到端收益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118A1-623E-4282-B1A8-CBBB0055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3B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6C3BC"/>
                </a:solidFill>
                <a:latin typeface="PingFang SC"/>
                <a:ea typeface="PingFang SC"/>
                <a:cs typeface="PingFang SC"/>
              </a:rPr>
              <a:t>1080P · 100 boxes · 实际 2271 prompt tokens · 27 output 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294DC-FA59-4B75-9987-00B28013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751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3BB01-EB4B-48B9-B4B9-9639B53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E2E 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41A27-AE6C-4103-90CC-B06F507D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71650"/>
            <a:ext cx="5715000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4555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E5461-7367-4915-8470-685D62C6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4437735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8F899-1D26-42F3-AE1B-C0084E87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rPr>
              <a:t>1203.57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2F611-7221-4A76-B4FD-4275FBFD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669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934.58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D3393-7128-4995-B4FD-02D97C58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954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-22.35%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79123-9D8E-4C97-9301-EABA8F7D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TTFT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B87B1-7127-4263-86CD-EA949C58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38450"/>
            <a:ext cx="5715000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4555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6A324-19FB-4722-81C4-35865614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62300"/>
            <a:ext cx="4717602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06705-4AF9-4DED-AC52-8D8FEBE3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rPr>
              <a:t>934.72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6CBBF-9DBC-43E6-BF3F-A53DACD7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33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771.59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5521A-2C27-4BB6-90E2-B8ACAF6E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622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-17.45%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F4353-EAC7-4E21-ABEC-45BAA6F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TPOT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663A7-AC1F-4190-8055-4652494B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05250"/>
            <a:ext cx="5715000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4555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DC334-03BB-44A2-9F90-CBF1103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29100"/>
            <a:ext cx="3464591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FD41B-3AF7-49F2-A9E2-7EED7A0A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AB7B0"/>
                </a:solidFill>
                <a:latin typeface="PingFang SC"/>
                <a:ea typeface="PingFang SC"/>
                <a:cs typeface="PingFang SC"/>
              </a:rPr>
              <a:t>10.341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7095C-2BC1-4969-ADC7-10883202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005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6.269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587D3-A019-4C74-A533-B11DD9DE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290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-39.38%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F887D-39D7-405A-A7EA-36E5C759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7B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AB7B0"/>
                </a:solidFill>
                <a:latin typeface="PingFang SC"/>
                <a:ea typeface="PingFang SC"/>
                <a:cs typeface="PingFang SC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950921-7C0C-4DC7-8ABF-8EA0CF90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7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Optimized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53523-ECF8-4A92-95A6-19295220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156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14271F"/>
          </a:solidFill>
          <a:ln xmlns:a="http://schemas.openxmlformats.org/drawingml/2006/main" w="9525">
            <a:solidFill>
              <a:srgbClr val="3652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0162F-FE7D-4490-B49F-C3FBC24A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CEC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CEC7"/>
                </a:solidFill>
                <a:latin typeface="PingFang SC"/>
                <a:ea typeface="PingFang SC"/>
                <a:cs typeface="PingFang SC"/>
              </a:rPr>
              <a:t>Request throughput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ACE0C-541D-49A7-A745-795335E5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48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0.831  →  1.070 req/s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909358-99F8-4F25-8F61-3E23F13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48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9DDB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9DDB43"/>
                </a:solidFill>
                <a:latin typeface="PingFang SC"/>
                <a:ea typeface="PingFang SC"/>
                <a:cs typeface="PingFang SC"/>
              </a:rPr>
              <a:t>+28.78%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1A11C-D560-4882-8CAA-824A308A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1001734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FCBD65-5B8C-4358-9088-E9AF9E9C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9B2D5-8867-40CB-87E9-07A4D3F4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当前推荐部署方案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C7CC4-01A8-42B5-8022-E4A13E26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以端到端收益、数值一致性和可回退能力为准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86186-707B-4404-9358-1A597748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6A8CA-2999-4E22-AE64-880F0354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启用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748A2-5B86-45A7-BD96-49A06B8E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B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AE916-D25A-4CF0-ABFB-8F99E6C5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EABF7-E3C7-48BC-88A1-6FD8611A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C-RADIO TRT BF16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480P / 1080P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A983D-F6F3-49CE-87AE-9E226603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360A5-00D0-4518-B824-36914DAA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FlashInfer GDN prefill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8C033-2ACF-4DBD-B434-F4842B10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CA110-0292-4C10-8B84-FFDD1EDE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FI-CUTLASS W4A4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Transformer linears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11C2E-5FA5-4419-A42F-EB069C37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38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42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0B429"/>
                </a:solidFill>
                <a:latin typeface="PingFang SC"/>
                <a:ea typeface="PingFang SC"/>
                <a:cs typeface="PingFang SC"/>
              </a:rPr>
              <a:t>带门禁启用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69A49-47FC-4632-B25C-94448D55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B4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85CC1-DA55-47E4-AFDC-0373FC7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27550-7F4D-4430-B926-6C67C432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03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Humming NVFP4 W4A16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LM Head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1A6B5-4F6A-445C-898B-E420092D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001FF-8DAA-4183-8EBA-D3641F6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必须通过私有任务级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accuracy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9A667-834F-4467-BCC5-72B40D7A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57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0B429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DDFC5-6CCD-4F2C-B62B-9C34D050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保留 BF16 LM Head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一键回退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98962-FE4D-4FC4-A31E-FA33E030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38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D4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5D4F"/>
                </a:solidFill>
                <a:latin typeface="PingFang SC"/>
                <a:ea typeface="PingFang SC"/>
                <a:cs typeface="PingFang SC"/>
              </a:rPr>
              <a:t>暂不启用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672D7-201B-499F-A02C-32DFCC8B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04ED9-24C1-4E97-9D36-69C556B8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BB295-8C82-4052-8B1E-955A8564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Humming W4A4 全量替换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精度 canary 未通过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56796-953A-42BC-A296-3A02014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77E10-9BA6-4B96-921C-6E22230C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TensorRT 720P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E2E 回归 0.59%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674F85-292C-46DE-BEA1-38AFCF5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5D4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765AE-6B21-42B4-9548-A2331BBC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FlashInfer-TRTLLM</a:t>
            </a:r>
          </a:p>
          <a:p xmlns:a="http://schemas.openxmlformats.org/drawingml/2006/main">
            <a:pPr algn="l">
              <a:def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SM121 初始化失败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A18175-180B-42D4-90E1-5462D4A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07442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AF49F1-250F-4492-855E-C1BF2131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1026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关键判断：Humming 用在 LM Head，W4A4 主干仍保留 FlashInfer-CUTLASS。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0F05C4-8E78-4433-B7FF-6191719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VLX inference optimization · DGX Spark / GB10 / SM121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E14237-8F92-4EFD-9DF1-38837011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1281721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71918-4D6C-4AD0-8DA0-66C27224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2F564-A597-47FC-85F7-48831BC4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下一步：从 kernel 优化走向生产闭环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DA90B-A503-4AEE-ABAD-42E0D388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先补准确率证据，再继续吃掉视觉路径的剩余时延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0A600-4919-4347-B21D-0EAFEC4B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9FC7F-2CBA-42BE-B7AB-A820528D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D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5D4F"/>
                </a:solidFill>
                <a:latin typeface="PingFang SC"/>
                <a:ea typeface="PingFang SC"/>
                <a:cs typeface="PingFang SC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EDFFA-9B47-45DB-9B1B-2BAD74A2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430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私有任务精度门禁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9DFD3-EF3D-4032-A8DC-9F5CC98E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430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对比 BF16 / 当前栈 / W4A16；关注候选框索引、schema 与答案质量。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A4D2A-6C3F-475C-B3F5-2D9E35E6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050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98FF9-B35F-46F7-A193-982DFD80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42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0B429"/>
                </a:solidFill>
                <a:latin typeface="PingFang SC"/>
                <a:ea typeface="PingFang SC"/>
                <a:cs typeface="PingFang SC"/>
              </a:rPr>
              <a:t>P1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89727-08F4-4E46-B6E7-0D2CBC2B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098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压缩输出协议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C8D32-9A20-4AB8-B578-F22D13B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将 verbose JSON 改为候选框 index，避免 27-token 截断；按真实输出长度分布复测。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4C833-65D4-4DF3-9A30-5113DA7A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179E2-4461-40BA-95D4-DE7AA615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P2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E86CD-ED4D-4200-8067-D39E8F37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766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并行两个视觉塔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496A0-0015-4EB1-8760-C3575192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66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主视觉塔约 286 ms，优化后 C-RADIO 约 285 ms；尝试独立 CUDA streams。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C1716-0E8D-4B9C-9639-EBFFD885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5EC79-FFB7-412E-AFC2-57BC7716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6B900"/>
                </a:solidFill>
                <a:latin typeface="PingFang SC"/>
                <a:ea typeface="PingFang SC"/>
                <a:cs typeface="PingFang SC"/>
              </a:rPr>
              <a:t>P3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ABB9C-64A0-4425-A330-89B83940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优化主视觉塔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A1254-3327-4F69-8941-2DFB6604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434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15B"/>
                </a:solidFill>
                <a:latin typeface="PingFang SC"/>
                <a:ea typeface="PingFang SC"/>
                <a:cs typeface="PingFang SC"/>
              </a:rPr>
              <a:t>复用 480P / 720P / 1080P 动态 TensorRT + 精确 fallback 策略。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5B43B-0860-43BD-9E04-3BD88AD0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744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5F1D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7CF8F-523F-4953-8432-B4C947F3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713"/>
                </a:solidFill>
                <a:latin typeface="PingFang SC"/>
                <a:ea typeface="PingFang SC"/>
                <a:cs typeface="PingFang SC"/>
              </a:rPr>
              <a:t>最大剩余机会：将主视觉塔与 C-RADIO 从串行改为并行，并继续优化主视觉塔。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53A8E-45AA-4E44-BB11-020E2903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VLX inference optimization · DGX Spark / GB10 / SM121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60943-D82D-491C-A56D-7ABD3DE0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9D"/>
                </a:solidFill>
                <a:latin typeface="PingFang SC"/>
                <a:ea typeface="PingFang SC"/>
                <a:cs typeface="PingFang SC"/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2079509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2026-09-16T07:13:28.5660000Z</dcterms:created>
  <dcterms:modified xsi:type="dcterms:W3CDTF">2026-09-16T07:13:28.5660000Z</dcterms:modified>
</coreProperties>
</file>